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236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9AE60-3F3C-4788-B740-77145BEF865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DF18-DC9A-477B-8549-B0F30EFE5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4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DF18-DC9A-477B-8549-B0F30EFE5F3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249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12801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0" b="1" dirty="0">
                <a:solidFill>
                  <a:srgbClr val="18222E"/>
                </a:solidFill>
              </a:rPr>
              <a:t>TRINETRA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829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D4FF"/>
                </a:solidFill>
              </a:rPr>
              <a:t>TRINETRA CHAOS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E0"/>
                </a:solidFill>
              </a:rPr>
              <a:t>Adaptive Consensus Under Network Failures &amp; Malicious Validators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606040"/>
            <a:ext cx="8686800" cy="50292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 flight simulator for blockchain consensus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crash your validators, inject Byzantine attacks,
and earn a certified Resilience Score before you deploy.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AA"/>
                </a:solidFill>
              </a:rPr>
              <a:t>Innovise 2026  ·  Blockchain Track PS3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D4D"/>
                </a:solidFill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77240"/>
            <a:ext cx="45720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Distributed systems fail in the real world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0"/>
                </a:solidFill>
              </a:rPr>
              <a:t>but nobody tests them under real chaos before deploying.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749039" cy="32004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3749039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💥  Server Crashes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Leader node dies mid-block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Does the cluster elect a new leader?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Or does it freeze forever?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749039" cy="32004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749039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🔌  Network Partitions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Two groups of nodes can't talk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Do they split into 2 ledgers?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Split-brain = double-spend = catastrophe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749039" cy="32004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749039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🤥  Byzantine Validators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7744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A corrupt node lies to peers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Sends different data to different nodes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Equivocation attack = hidden fork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700"/>
                </a:solidFill>
              </a:rPr>
              <a:t>🏦  Real Stakes: RBI's CBDC network, interbank settlement, supply-chain ledgers — all run distributed consensus with no chaos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Our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7724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✈️  A Flight Simulator for Blockchain Consensus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3749039" cy="36576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3749039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🔬  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5-node Raft cluster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Real Ed25519 cryptography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Merkle-chained blocks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150 tx/sec synthetic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749039" cy="36576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645920"/>
            <a:ext cx="3749039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💣 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Leader crash &amp; recover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Network partition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Byzantine equivocation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Gray failure (slow leader)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Latency storms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749039" cy="36576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749039" cy="36576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A"/>
                </a:solidFill>
              </a:rPr>
              <a:t>📊  Certify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Live Resilience Score A–F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MTTR &lt; 400ms proven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17 automated safety tests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6E0"/>
                </a:solidFill>
              </a:rPr>
              <a:t>Published formula — no black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AA"/>
                </a:solidFill>
              </a:rPr>
              <a:t>No vendor lock-in.  No cloud dependency.  Runs 100% offline.  Open-source.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700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4572000" cy="36576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914400"/>
            <a:ext cx="11430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11556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D4FF"/>
                </a:solidFill>
              </a:rPr>
              <a:t>WEB DASHBOARD  (HTML + Chart.js + Canvas topology)  —  Live drag-and-drop Scenario Composer · Tx Studio · Voice Narration · Dark/Light Theme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11430000" cy="64008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11430000" cy="45720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111556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C700"/>
                </a:solidFill>
              </a:rPr>
              <a:t>FASTAPI  REST + WebSocket (10 Hz push)  —  /inject, /scenario, /manual-tx, /chaos-*, /metrics, /report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68880"/>
            <a:ext cx="5394960" cy="21031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5394960" cy="45720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5603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CONSENSUS ENGINE</a:t>
            </a:r>
          </a:p>
          <a:p>
            <a:r>
              <a:rPr sz="1100">
                <a:solidFill>
                  <a:srgbClr val="CCD6E0"/>
                </a:solidFill>
              </a:rPr>
              <a:t>Raft (PreVote · Leader Transfer · Gray Failure)</a:t>
            </a:r>
          </a:p>
          <a:p>
            <a:r>
              <a:rPr sz="1100">
                <a:solidFill>
                  <a:srgbClr val="CCD6E0"/>
                </a:solidFill>
              </a:rPr>
              <a:t>Adaptive Timeouts (Jacobson/Karels SRTT)</a:t>
            </a:r>
          </a:p>
          <a:p>
            <a:r>
              <a:rPr sz="1100">
                <a:solidFill>
                  <a:srgbClr val="CCD6E0"/>
                </a:solidFill>
              </a:rPr>
              <a:t>Byzantine Gossip + Echo Quorum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468880"/>
            <a:ext cx="5897880" cy="21031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7880" y="2468880"/>
            <a:ext cx="589788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2560320"/>
            <a:ext cx="5623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D"/>
                </a:solidFill>
              </a:rPr>
              <a:t>CHAOS ENGINE</a:t>
            </a:r>
          </a:p>
          <a:p>
            <a:r>
              <a:rPr sz="1100">
                <a:solidFill>
                  <a:srgbClr val="CCD6E0"/>
                </a:solidFill>
              </a:rPr>
              <a:t>Chaos Monkey (1000 Jepsen schedules)</a:t>
            </a:r>
          </a:p>
          <a:p>
            <a:r>
              <a:rPr sz="1100">
                <a:solidFill>
                  <a:srgbClr val="CCD6E0"/>
                </a:solidFill>
              </a:rPr>
              <a:t>Geo-Latency Presets (Mumbai / Frankfurt / Virginia)</a:t>
            </a:r>
          </a:p>
          <a:p>
            <a:r>
              <a:rPr sz="1100">
                <a:solidFill>
                  <a:srgbClr val="CCD6E0"/>
                </a:solidFill>
              </a:rPr>
              <a:t>Partition · Equivocation · Latency Storm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5394960" cy="13716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709160"/>
            <a:ext cx="5394960" cy="45720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9BAA"/>
                </a:solidFill>
              </a:rPr>
              <a:t>LEDGER LAYER</a:t>
            </a:r>
          </a:p>
          <a:p>
            <a:r>
              <a:rPr sz="1100">
                <a:solidFill>
                  <a:srgbClr val="CCD6E0"/>
                </a:solidFill>
              </a:rPr>
              <a:t>Signed Txs · Merkle Blocks · TokenLedger</a:t>
            </a:r>
          </a:p>
          <a:p>
            <a:r>
              <a:rPr sz="1100">
                <a:solidFill>
                  <a:srgbClr val="CCD6E0"/>
                </a:solidFill>
              </a:rPr>
              <a:t>Invariant Checker · Continuous Fork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4709160"/>
            <a:ext cx="5897880" cy="13716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7880" y="4709160"/>
            <a:ext cx="5897880" cy="45720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4800600"/>
            <a:ext cx="5623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9BAA"/>
                </a:solidFill>
              </a:rPr>
              <a:t>OBSERVABILITY</a:t>
            </a:r>
          </a:p>
          <a:p>
            <a:r>
              <a:rPr sz="1100">
                <a:solidFill>
                  <a:srgbClr val="CCD6E0"/>
                </a:solidFill>
              </a:rPr>
              <a:t>Prometheus /metrics · Resilience Score</a:t>
            </a:r>
          </a:p>
          <a:p>
            <a:r>
              <a:rPr sz="1100">
                <a:solidFill>
                  <a:srgbClr val="CCD6E0"/>
                </a:solidFill>
              </a:rPr>
              <a:t>Wireshark RPC Tracer · HTML/JSON Report</a:t>
            </a:r>
          </a:p>
          <a:p>
            <a:r>
              <a:rPr sz="1100">
                <a:solidFill>
                  <a:srgbClr val="CCD6E0"/>
                </a:solidFill>
              </a:rPr>
              <a:t>Grafana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7A"/>
                </a:solidFill>
              </a:rPr>
              <a:t>Live Demo — What You'll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9144000" cy="36576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502920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932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Cluster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 nodes online · Crown 👑 on N0 · 150 tx/sec · all Ledger blocks same height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64207"/>
            <a:ext cx="502920" cy="56692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68249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Crash the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984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Click 'Crash N0' → heartbeats stop → Narrator: 'Heartbeat stream terminated'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14015"/>
            <a:ext cx="502920" cy="56692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505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3230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Election Fires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340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N2 wins PreVote in ~320ms → Crown moves → MTTR card updates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63824"/>
            <a:ext cx="502920" cy="566928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25526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182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A"/>
                </a:solidFill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83864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Click 'Recover All' → N0 rejoins as Follower → downloads missing blocks → all 5 in 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13631"/>
            <a:ext cx="502920" cy="5669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00507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9319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Byzantine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33671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Enable Hardened Mode → inject Equivocation → Echo Quorum blocks the fork → invariants 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502920" cy="56692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7548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8172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Resilience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7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Run Autopilot → all 6 chapters auto-play → Score card: A 87.5/100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14 Advanced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6400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914400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9601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🎙️  Live Narrator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4358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Real-time plain-English captions of every consensus 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64207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664207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7099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🔊  Voice Narration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9339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Web Speech API reads events aloud — accessibility + wow factor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14015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414015"/>
            <a:ext cx="36576" cy="65836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459735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700"/>
                </a:solidFill>
              </a:rPr>
              <a:t>🤖  Autopilot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4319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6-chapter choreographed demo — one button, full 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63824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163824"/>
            <a:ext cx="36576" cy="65836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2095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700"/>
                </a:solidFill>
              </a:rPr>
              <a:t>⏸️  Pause / Step / Replay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930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Freeze time, step one tick, replay any chaos sequence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13631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913631"/>
            <a:ext cx="36576" cy="658368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95935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A"/>
                </a:solidFill>
              </a:rPr>
              <a:t>🌍  Geo-Latency Presets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428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Single DC · Mumbai–Frankfurt–Virginia real-world delays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36576" cy="658368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709159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A"/>
                </a:solidFill>
              </a:rPr>
              <a:t>📊  Resilience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926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Published formula A–F grade — not a black box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13248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5413248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4589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🎭  Scenario Composer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7424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Drag-and-drop chaos event sequencer — build your own attack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914400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914400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9601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💸  Tx Studio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24358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Sign &amp; submit manual transactions · see cryptographic receipt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664207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92240" y="1664207"/>
            <a:ext cx="36576" cy="6583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17099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🕵️  Gray Failure Detect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99339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Slow leader detection via EWMA jitter — hardest failure 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414015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2414015"/>
            <a:ext cx="36576" cy="65836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2459735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700"/>
                </a:solidFill>
              </a:rPr>
              <a:t>🧬  Merkle Proof Viewer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274319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Visual tree + inclusion proof for any transaction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163824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92240" y="3163824"/>
            <a:ext cx="36576" cy="658368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32095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700"/>
                </a:solidFill>
              </a:rPr>
              <a:t>📡  Wireshark Tracer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4930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Packet-level RPC ring buffer — see every heartbeat &amp; vote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913631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92240" y="3913631"/>
            <a:ext cx="36576" cy="6583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9400" y="395935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🦊  Chaos Monkey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42428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1000 Jepsen-style randomized schedules in virtual time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663440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92240" y="4663440"/>
            <a:ext cx="36576" cy="658368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29400" y="4709159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A"/>
                </a:solidFill>
              </a:rPr>
              <a:t>📈  Prometheus + Grafana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9926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Export /metrics, pre-built Grafana dashboard JSON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5413248"/>
            <a:ext cx="5760720" cy="65836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492240" y="5413248"/>
            <a:ext cx="36576" cy="658368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29400" y="54589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6E0"/>
                </a:solidFill>
              </a:rPr>
              <a:t>🌗  Dark / Light Theme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400" y="57424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</a:rPr>
              <a:t>Obsidian Eye dark + clean light — pitch-ready in any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TECHNICAL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700"/>
                </a:solidFill>
              </a:rPr>
              <a:t>Technical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5486400" cy="36576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▸  Ed25519 Cryptography (PyNaCl)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0759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Every transaction and block header carries a real digital signature.
Forgery is computationally infeasible.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▸  Raft — Full Paper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PreVote (prevents disruptive elections) · Leader Transfer (TimeoutNow)
Log matching invariant checked continuously.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▸  Jacobson/Karels RTT Estimator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50791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SRTT / RTTVAR / RTO — same algorithm used in TCP.
Adaptive election timeouts track jitter per-follower.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00"/>
                </a:solidFill>
              </a:rPr>
              <a:t>▸  Binary Merkle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2239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SHA-256 canonical hashing · Merkle inclusion proofs
Any tx verifiable without reading the full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▸  Byzantine Echo Quorum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0759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4-of-5 signed-header protocol — Hardened Mode blocks equivocation.
EquivProof generation + peer blacklisting.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▸  Gray Failure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79191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EWMA jitter tracking flags a slow leader before it causes churn.
Planned leader transfer triggers TimeoutNow gracefully.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03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▸  Continuous Invariant 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50791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Election safety · log matching · chain integrity · state-root agreement
Checked every simulation tick — no silent corruption.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749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▸  Resilience Score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2239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Score = 40×(1−Churn/MaxChurn) + 30×(1−MTTR/MaxMTTR) + 20×Avail + 10×(1−Forks/Max)
Published, auditable, A–F graded.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914400"/>
            <a:ext cx="36576" cy="5029200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7A"/>
                </a:solidFill>
              </a:rPr>
              <a:t>Results &amp; Benchmarks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6400800" cy="36576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743200" cy="1828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C700"/>
                </a:solidFill>
              </a:rPr>
              <a:t>87.5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A"/>
                </a:solidFill>
              </a:rPr>
              <a:t>Resilience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05840"/>
            <a:ext cx="2743200" cy="1828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005840"/>
            <a:ext cx="274320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57A"/>
                </a:solidFill>
              </a:rPr>
              <a:t>&lt;400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377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A"/>
                </a:solidFill>
              </a:rPr>
              <a:t>MTTR (Leader Crash)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2743200" cy="1828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</a:rPr>
              <a:t>150+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tx/s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77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A"/>
                </a:solidFill>
              </a:rPr>
              <a:t>Sustained 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2743200" cy="1828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0" y="1005840"/>
            <a:ext cx="274320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1188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57A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377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A"/>
                </a:solidFill>
              </a:rPr>
              <a:t>All Passing (CI Gate)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Adaptive vs. Static Timeout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383280"/>
            <a:ext cx="3154680" cy="347472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4015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383280"/>
            <a:ext cx="2240280" cy="347472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0" y="3401568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Static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383280"/>
            <a:ext cx="28803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3401568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Adaptive Mode (Ours)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383280"/>
            <a:ext cx="2514600" cy="347472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340156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Improvement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49039"/>
            <a:ext cx="315468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37673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Resilience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3749039"/>
            <a:ext cx="224028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0" y="376732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57.8 / 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749039"/>
            <a:ext cx="288036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0" y="37673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87.5 /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749039"/>
            <a:ext cx="251460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376732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7A"/>
                </a:solidFill>
              </a:rPr>
              <a:t>+51% 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160520"/>
            <a:ext cx="315468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17880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Election Churn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160520"/>
            <a:ext cx="224028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0" y="41788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618 /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4160520"/>
            <a:ext cx="288036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0" y="417880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 / min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4160520"/>
            <a:ext cx="251460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0" y="41788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7A"/>
                </a:solidFill>
              </a:rPr>
              <a:t>-99.5% 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572000"/>
            <a:ext cx="315468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459028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p95 Latency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572000"/>
            <a:ext cx="224028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0" y="459028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48 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4572000"/>
            <a:ext cx="288036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0" y="459028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48 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4572000"/>
            <a:ext cx="2514600" cy="384048"/>
          </a:xfrm>
          <a:prstGeom prst="rect">
            <a:avLst/>
          </a:prstGeom>
          <a:solidFill>
            <a:srgbClr val="17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69680" y="4590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7A"/>
                </a:solidFill>
              </a:rPr>
              <a:t>Maintained 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983479"/>
            <a:ext cx="315468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500176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CI Gate (≥80)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4983479"/>
            <a:ext cx="224028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0" y="50017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D4D"/>
                </a:solidFill>
              </a:rPr>
              <a:t>FAIL 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983479"/>
            <a:ext cx="288036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43600" y="500176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PASS 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4983479"/>
            <a:ext cx="2514600" cy="384048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69680" y="50017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A"/>
                </a:solidFill>
              </a:rPr>
              <a:t>TRINETRA CHAOS CONSOLE  |  Innovise 2026  —  Blockchain PS3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6019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D4FF"/>
                </a:solidFill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Real-World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31520"/>
            <a:ext cx="7315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2743200" cy="4114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700"/>
                </a:solidFill>
              </a:rPr>
              <a:t>🏦  CBDC &amp; Banking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RBI's Digital Rupee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Interbank settlement (RTGS)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Cross-border payment 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51560"/>
            <a:ext cx="2743200" cy="4114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05156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143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</a:rPr>
              <a:t>⛓️  Enterprise Blockchain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6916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Hyperledger Fabric pre-deploy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3774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Supply-chain ledger 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63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Trade finance networks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51560"/>
            <a:ext cx="2743200" cy="4114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143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E57A"/>
                </a:solidFill>
              </a:rPr>
              <a:t>☁️  Cloud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6916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Distributed database chaos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774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Kubernetes etcd cluster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SRE resilience certification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051560"/>
            <a:ext cx="2743200" cy="411480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1051560"/>
            <a:ext cx="2743200" cy="54864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143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4D4D"/>
                </a:solidFill>
              </a:rPr>
              <a:t>📋  Compliance &amp;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6916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Certifiable Resilience Score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3774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Regulator-friendly HTML/JSON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063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 ISO 22301 business continuity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BAA"/>
                </a:solidFill>
              </a:rPr>
              <a:t>Total Addressable Market:  Distributed systems testing &amp; blockchain DevSecOps  —  est. \$4.2B by 2028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AA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82880" y="1828800"/>
            <a:ext cx="12801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3000" b="1" dirty="0">
                <a:solidFill>
                  <a:srgbClr val="18222E"/>
                </a:solidFill>
              </a:rPr>
              <a:t>TOP 1</a:t>
            </a:r>
            <a:endParaRPr sz="23000" b="1" dirty="0">
              <a:solidFill>
                <a:srgbClr val="18222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TRINETRA CHAOS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CCD6E0"/>
                </a:solidFill>
              </a:rPr>
              <a:t>Real crypto.  Real Raft.  Real resilience.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474720"/>
            <a:ext cx="8531352" cy="50292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✅  One button → Autopilot runs all 6 chaos chapters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33087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✅  Live dashboard → Crown moves when leader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608576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✅  Resilience Score → A 87.5/100 · Published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AA"/>
                </a:solidFill>
              </a:rPr>
              <a:t>Innovise 2026  ·  Blockchain Track PS3  ·  Adaptive Consensus Under Network Failures &amp; Malicious Validators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1214</Words>
  <Application>Microsoft Office PowerPoint</Application>
  <PresentationFormat>Custom</PresentationFormat>
  <Paragraphs>211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 Devgania</cp:lastModifiedBy>
  <cp:revision>2</cp:revision>
  <dcterms:created xsi:type="dcterms:W3CDTF">2013-01-27T09:14:16Z</dcterms:created>
  <dcterms:modified xsi:type="dcterms:W3CDTF">2026-10-25T06:24:00Z</dcterms:modified>
  <cp:category/>
</cp:coreProperties>
</file>