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-457200" y="1097280"/>
            <a:ext cx="13258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500" b="1">
                <a:solidFill>
                  <a:srgbClr val="111A28"/>
                </a:solidFill>
              </a:rPr>
              <a:t>TRINETRA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82296" cy="13258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4124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D4FF"/>
                </a:solidFill>
              </a:rPr>
              <a:t>TRINETRA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66420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CHAOS CONSOLE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2423160"/>
            <a:ext cx="9601200" cy="54864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2560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B0BECC"/>
                </a:solidFill>
              </a:rPr>
              <a:t>Adaptive Consensus Under Network Failures &amp; Malicious Validators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318211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 flight simulator for blockchain consensus —
crash your validators, inject Byzantine attacks, earn a certified Resilience Score.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4251960"/>
            <a:ext cx="3017520" cy="384048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427024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</a:rPr>
              <a:t>Real Ed25519 Crypto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86784" y="4251960"/>
            <a:ext cx="3017520" cy="384048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86784" y="427024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200"/>
                </a:solidFill>
              </a:rPr>
              <a:t>Full Raft Protocol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78624" y="4251960"/>
            <a:ext cx="3017520" cy="384048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78624" y="427024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E070"/>
                </a:solidFill>
              </a:rPr>
              <a:t>Published Score Formula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89204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Hackathon  ·  Innovise 2026  ·  Blockchain Track PS3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659282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677"/>
                </a:solidFill>
              </a:rPr>
              <a:t>TRINETRA CHAOS CONSOLE  ·  Innovise 2026  ·  Blockchain PS3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9282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677"/>
                </a:solidFill>
              </a:rPr>
              <a:t>TRINETRA CHAOS CONSOLE  ·  Innovise 2026  ·  Blockchain PS3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645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545"/>
                </a:solidFill>
              </a:rPr>
              <a:t>SLIDE 2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&amp;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115568"/>
            <a:ext cx="5029200" cy="4114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5394960" cy="5074920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280160"/>
            <a:ext cx="5394960" cy="5029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4545"/>
                </a:solidFill>
              </a:rPr>
              <a:t>⚡  The Problem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5074920" cy="1298448"/>
          </a:xfrm>
          <a:prstGeom prst="rect">
            <a:avLst/>
          </a:prstGeom>
          <a:solidFill>
            <a:srgbClr val="11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920240"/>
            <a:ext cx="5074920" cy="36576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01168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Servers Crash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377440"/>
            <a:ext cx="4297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CC"/>
                </a:solidFill>
              </a:rPr>
              <a:t>Leader node dies mid-block. Does the cluster elect a new leader in ms — or freeze forever?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64992"/>
            <a:ext cx="5074920" cy="1298448"/>
          </a:xfrm>
          <a:prstGeom prst="rect">
            <a:avLst/>
          </a:prstGeom>
          <a:solidFill>
            <a:srgbClr val="11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364992"/>
            <a:ext cx="5074920" cy="36576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4564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45643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Network Splits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22191"/>
            <a:ext cx="4297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CC"/>
                </a:solidFill>
              </a:rPr>
              <a:t>Two node groups can't talk. Do they write conflicting ledgers? Split-brain = double-spend.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09744"/>
            <a:ext cx="5074920" cy="1298448"/>
          </a:xfrm>
          <a:prstGeom prst="rect">
            <a:avLst/>
          </a:prstGeom>
          <a:solidFill>
            <a:srgbClr val="11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809744"/>
            <a:ext cx="5074920" cy="36576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4901183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901183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Byzantine Nodes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266944"/>
            <a:ext cx="4297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CC"/>
                </a:solidFill>
              </a:rPr>
              <a:t>A corrupt validator sends different data to different peers — an equivocation attack.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9893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C200"/>
                </a:solidFill>
              </a:rPr>
              <a:t>🏦  No safe way to test these scenarios before production deployment.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1280160"/>
            <a:ext cx="5833872" cy="5074920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35040" y="1280160"/>
            <a:ext cx="5833872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✈️  Our Solution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187451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 flight simulator for distributed consensus.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304288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Trinetra runs a real 5-node Raft cluster with Ed25519-signed blocks, then lets you break it every possible way — safely in simulation.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3108960"/>
            <a:ext cx="5559552" cy="1051560"/>
          </a:xfrm>
          <a:prstGeom prst="rect">
            <a:avLst/>
          </a:prstGeom>
          <a:solidFill>
            <a:srgbClr val="11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3108960"/>
            <a:ext cx="55595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1821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🔬  SIMULATE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529584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5 validators · 150 tx/sec · Merkle-chained blocks · real crypto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4270248"/>
            <a:ext cx="5559552" cy="1051560"/>
          </a:xfrm>
          <a:prstGeom prst="rect">
            <a:avLst/>
          </a:prstGeom>
          <a:solidFill>
            <a:srgbClr val="11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72200" y="4270248"/>
            <a:ext cx="5559552" cy="36576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3434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545"/>
                </a:solidFill>
              </a:rPr>
              <a:t>💣  CHAOS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690872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Crash · Partition · Equivocation · Gray Failure · Latency Storm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5431536"/>
            <a:ext cx="5559552" cy="1051560"/>
          </a:xfrm>
          <a:prstGeom prst="rect">
            <a:avLst/>
          </a:prstGeom>
          <a:solidFill>
            <a:srgbClr val="11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72200" y="5431536"/>
            <a:ext cx="5559552" cy="36576"/>
          </a:xfrm>
          <a:prstGeom prst="rect">
            <a:avLst/>
          </a:prstGeom>
          <a:solidFill>
            <a:srgbClr val="00E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55046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070"/>
                </a:solidFill>
              </a:rPr>
              <a:t>📊  CERTIFY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5852159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Resilience Score A–F · MTTR &lt; 400 ms · 17 CI-gated tests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9282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677"/>
                </a:solidFill>
              </a:rPr>
              <a:t>TRINETRA CHAOS CONSOLE  ·  Innovise 2026  ·  Blockchain PS3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645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200"/>
                </a:solidFill>
              </a:rPr>
              <a:t>SLIDE 3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115568"/>
            <a:ext cx="5029200" cy="41148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11548872" cy="713232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280160"/>
            <a:ext cx="11548872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362456"/>
            <a:ext cx="11228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🖥️  WEB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1691639"/>
            <a:ext cx="112288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C"/>
                </a:solidFill>
              </a:rPr>
              <a:t>Canvas topology · Chart.js TPS/latency · Scenario Composer (drag-drop) · Tx Studio · Voice Narration · Dark/Light Theme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03120"/>
            <a:ext cx="11548872" cy="713232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103120"/>
            <a:ext cx="11548872" cy="50292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2185415"/>
            <a:ext cx="11228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200"/>
                </a:solidFill>
              </a:rPr>
              <a:t>⚡  FASTAPI  REST + WebSocket  (10 Hz push)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514600"/>
            <a:ext cx="112288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C"/>
                </a:solidFill>
              </a:rPr>
              <a:t>/inject · /scenario · /manual-tx · /chaos-* · /metrics · /report  —  Pydantic models · Prometheus exporter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926080"/>
            <a:ext cx="5559552" cy="1828800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926080"/>
            <a:ext cx="5559552" cy="50292"/>
          </a:xfrm>
          <a:prstGeom prst="rect">
            <a:avLst/>
          </a:prstGeom>
          <a:solidFill>
            <a:srgbClr val="00E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3008376"/>
            <a:ext cx="5285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070"/>
                </a:solidFill>
              </a:rPr>
              <a:t>⚙️  CONSENSUS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3401568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 b="0">
                <a:solidFill>
                  <a:srgbClr val="B0BECC"/>
                </a:solidFill>
              </a:rPr>
              <a:t> Raft:  PreVote · Leader Transfer · Planned Handoff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B0BECC"/>
                </a:solidFill>
              </a:rPr>
              <a:t> Adaptive Timeouts  (Jacobson/Karels SRTT/RTTVAR/RTO)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B0BECC"/>
                </a:solidFill>
              </a:rPr>
              <a:t> Byzantine Gossip + 4-of-5 Echo Quorum (Hardened Mode)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B0BECC"/>
                </a:solidFill>
              </a:rPr>
              <a:t> Gray Failure Detection via EWMA jitter tracking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926080"/>
            <a:ext cx="5559552" cy="1828800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2926080"/>
            <a:ext cx="5559552" cy="5029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9631" y="3008376"/>
            <a:ext cx="5285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545"/>
                </a:solidFill>
              </a:rPr>
              <a:t>💣  CHAOS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1" y="3401568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 b="0">
                <a:solidFill>
                  <a:srgbClr val="B0BECC"/>
                </a:solidFill>
              </a:rPr>
              <a:t> Chaos Monkey — 1000 Jepsen-style schedules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B0BECC"/>
                </a:solidFill>
              </a:rPr>
              <a:t> Geo-Latency Presets  (Mumbai · Frankfurt · Virginia)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B0BECC"/>
                </a:solidFill>
              </a:rPr>
              <a:t> Partition · Equivocation · Latency Storm · Slow Leader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B0BECC"/>
                </a:solidFill>
              </a:rPr>
              <a:t> Autopilot — 6-chapter choreographed demo controller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892040"/>
            <a:ext cx="5559552" cy="1463040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892040"/>
            <a:ext cx="5559552" cy="50292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" y="4974336"/>
            <a:ext cx="5285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6677"/>
                </a:solidFill>
              </a:rPr>
              <a:t>📒  LEDGER  &amp;  INVARIANTS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5367527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 b="0">
                <a:solidFill>
                  <a:srgbClr val="B0BECC"/>
                </a:solidFill>
              </a:rPr>
              <a:t> Signed Txs · Merkle Blocks · TokenLedger state machine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B0BECC"/>
                </a:solidFill>
              </a:rPr>
              <a:t> Nonce replay defence · Overdraft protection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B0BECC"/>
                </a:solidFill>
              </a:rPr>
              <a:t> Continuous invariant checker — fork detection every tick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4892040"/>
            <a:ext cx="5559552" cy="1463040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4892040"/>
            <a:ext cx="5559552" cy="50292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9631" y="4974336"/>
            <a:ext cx="5285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6CFF"/>
                </a:solidFill>
              </a:rPr>
              <a:t>📡  OBSERVABILITY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1" y="5367527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 b="0">
                <a:solidFill>
                  <a:srgbClr val="B0BECC"/>
                </a:solidFill>
              </a:rPr>
              <a:t> Prometheus /metrics  ·  Grafana dashboard JSON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B0BECC"/>
                </a:solidFill>
              </a:rPr>
              <a:t> Wireshark-style RPC tracer  ·  Resilience Score A–F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B0BECC"/>
                </a:solidFill>
              </a:rPr>
              <a:t> HTML + JSON certification report  ·  GitHub Actions 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9282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677"/>
                </a:solidFill>
              </a:rPr>
              <a:t>TRINETRA CHAOS CONSOLE  ·  Innovise 2026  ·  Blockchain PS3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645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6CFF"/>
                </a:solidFill>
              </a:rPr>
              <a:t>SLIDE 4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Technical Depth &amp;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115568"/>
            <a:ext cx="5029200" cy="41148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5559552" cy="914400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54864" cy="9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4173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39903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Ed25519 Digital Signatures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46504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C"/>
                </a:solidFill>
              </a:rPr>
              <a:t>Every transaction and block carries a real PyNaCl signature. Forgery is computationally infeasible.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50008"/>
            <a:ext cx="5559552" cy="914400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50008"/>
            <a:ext cx="54864" cy="914400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4414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🗳️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423160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200"/>
                </a:solidFill>
              </a:rPr>
              <a:t>Full Raft — PreVote Protocol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770632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C"/>
                </a:solidFill>
              </a:rPr>
              <a:t>Prevents disruptive elections. Leader Transfer (TimeoutNow) for planned handoff. Log-matching invariant checked continuously.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374136"/>
            <a:ext cx="5559552" cy="914400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374136"/>
            <a:ext cx="54864" cy="914400"/>
          </a:xfrm>
          <a:prstGeom prst="rect">
            <a:avLst/>
          </a:prstGeom>
          <a:solidFill>
            <a:srgbClr val="00E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46557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447288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070"/>
                </a:solidFill>
              </a:rPr>
              <a:t>Jacobson/Karels RTT Estimator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794760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C"/>
                </a:solidFill>
              </a:rPr>
              <a:t>SRTT · RTTVAR · RTO — same algorithm as TCP. Adaptive election timeouts track per-follower jitter.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398264"/>
            <a:ext cx="5559552" cy="914400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398264"/>
            <a:ext cx="54864" cy="9144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448970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471416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6CFF"/>
                </a:solidFill>
              </a:rPr>
              <a:t>Binary Merkle Trees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818888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C"/>
                </a:solidFill>
              </a:rPr>
              <a:t>SHA-256 canonical hashing. Inclusion proofs verify any tx without reading the full block.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422392"/>
            <a:ext cx="5559552" cy="914400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5422392"/>
            <a:ext cx="54864" cy="9144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55138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495544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545"/>
                </a:solidFill>
              </a:rPr>
              <a:t>Byzantine Echo Quorum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843016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C"/>
                </a:solidFill>
              </a:rPr>
              <a:t>4-of-5 signed-header protocol. EquivProof generation + peer blacklisting blocks equivocation forks.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1261872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14 Advanced Features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1645920"/>
            <a:ext cx="5943600" cy="36576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80760" y="1783080"/>
            <a:ext cx="2834640" cy="566928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80760" y="1783080"/>
            <a:ext cx="45720" cy="5669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45352" y="1892807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</a:rPr>
              <a:t>🎙️ Live Narrator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2459736"/>
            <a:ext cx="2834640" cy="566928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80760" y="2459736"/>
            <a:ext cx="45720" cy="5669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45352" y="256946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</a:rPr>
              <a:t>🔊 Voice Narration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3136391"/>
            <a:ext cx="2834640" cy="566928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80760" y="3136391"/>
            <a:ext cx="45720" cy="566928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45352" y="32461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200"/>
                </a:solidFill>
              </a:rPr>
              <a:t>🤖 Autopilot Demo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80760" y="3813048"/>
            <a:ext cx="2834640" cy="566928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80760" y="3813048"/>
            <a:ext cx="45720" cy="566928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45352" y="392277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200"/>
                </a:solidFill>
              </a:rPr>
              <a:t>⏸️ Pause/Step/Replay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60" y="4489704"/>
            <a:ext cx="2834640" cy="566928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80760" y="4489704"/>
            <a:ext cx="45720" cy="566928"/>
          </a:xfrm>
          <a:prstGeom prst="rect">
            <a:avLst/>
          </a:prstGeom>
          <a:solidFill>
            <a:srgbClr val="00E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45352" y="459943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070"/>
                </a:solidFill>
              </a:rPr>
              <a:t>🌍 Geo-Latency Presets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80760" y="5166360"/>
            <a:ext cx="2834640" cy="566928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080760" y="5166360"/>
            <a:ext cx="45720" cy="566928"/>
          </a:xfrm>
          <a:prstGeom prst="rect">
            <a:avLst/>
          </a:prstGeom>
          <a:solidFill>
            <a:srgbClr val="00E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45352" y="527608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070"/>
                </a:solidFill>
              </a:rPr>
              <a:t>📊 Resilience Score A–F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80760" y="5843016"/>
            <a:ext cx="2834640" cy="566928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080760" y="5843016"/>
            <a:ext cx="45720" cy="566928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45352" y="595274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6CFF"/>
                </a:solidFill>
              </a:rPr>
              <a:t>🎭 Scenario Composer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98280" y="1783080"/>
            <a:ext cx="2834640" cy="566928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98280" y="1783080"/>
            <a:ext cx="45720" cy="566928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62872" y="1892807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6CFF"/>
                </a:solidFill>
              </a:rPr>
              <a:t>💸 Tx Studio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98280" y="2459736"/>
            <a:ext cx="2834640" cy="566928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098280" y="2459736"/>
            <a:ext cx="45720" cy="56692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62872" y="256946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545"/>
                </a:solidFill>
              </a:rPr>
              <a:t>🕵️ Gray Failure Detect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98280" y="3136391"/>
            <a:ext cx="2834640" cy="566928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98280" y="3136391"/>
            <a:ext cx="45720" cy="566928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62872" y="32461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200"/>
                </a:solidFill>
              </a:rPr>
              <a:t>🧬 Merkle Proof Viewer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98280" y="3813048"/>
            <a:ext cx="2834640" cy="566928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098280" y="3813048"/>
            <a:ext cx="45720" cy="5669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62872" y="392277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</a:rPr>
              <a:t>📡 Wireshark Tracer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098280" y="4489704"/>
            <a:ext cx="2834640" cy="566928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098280" y="4489704"/>
            <a:ext cx="45720" cy="56692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262872" y="459943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545"/>
                </a:solidFill>
              </a:rPr>
              <a:t>🦊 Chaos Monkey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098280" y="5166360"/>
            <a:ext cx="2834640" cy="566928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098280" y="5166360"/>
            <a:ext cx="45720" cy="566928"/>
          </a:xfrm>
          <a:prstGeom prst="rect">
            <a:avLst/>
          </a:prstGeom>
          <a:solidFill>
            <a:srgbClr val="00E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262872" y="527608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070"/>
                </a:solidFill>
              </a:rPr>
              <a:t>📈 Prometheus+Grafana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98280" y="5843016"/>
            <a:ext cx="2834640" cy="566928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098280" y="5843016"/>
            <a:ext cx="45720" cy="566928"/>
          </a:xfrm>
          <a:prstGeom prst="rect">
            <a:avLst/>
          </a:prstGeom>
          <a:solidFill>
            <a:srgbClr val="B0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262872" y="595274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🌗 Dark / Light Theme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E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9282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677"/>
                </a:solidFill>
              </a:rPr>
              <a:t>TRINETRA CHAOS CONSOLE  ·  Innovise 2026  ·  Blockchain PS3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645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070"/>
                </a:solidFill>
              </a:rPr>
              <a:t>SLIDE 5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 &amp; Live Demo Walk-Through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115568"/>
            <a:ext cx="5029200" cy="41148"/>
          </a:xfrm>
          <a:prstGeom prst="rect">
            <a:avLst/>
          </a:prstGeom>
          <a:solidFill>
            <a:srgbClr val="00E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2212848" cy="1481328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2212848" cy="50292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25880"/>
            <a:ext cx="22128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C200"/>
                </a:solidFill>
              </a:rPr>
              <a:t>87.5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965960"/>
            <a:ext cx="22128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/ 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258568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C"/>
                </a:solidFill>
              </a:rPr>
              <a:t>Resilience Score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42616" y="1234440"/>
            <a:ext cx="2212848" cy="1481328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42616" y="1234440"/>
            <a:ext cx="2212848" cy="50292"/>
          </a:xfrm>
          <a:prstGeom prst="rect">
            <a:avLst/>
          </a:prstGeom>
          <a:solidFill>
            <a:srgbClr val="00E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42616" y="1325880"/>
            <a:ext cx="22128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0E070"/>
                </a:solidFill>
              </a:rPr>
              <a:t>&lt;400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2616" y="1965960"/>
            <a:ext cx="22128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2616" y="2258568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C"/>
                </a:solidFill>
              </a:rPr>
              <a:t>MTTR (Leader Crash)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65192" y="1234440"/>
            <a:ext cx="2212848" cy="1481328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65192" y="1234440"/>
            <a:ext cx="2212848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5192" y="1325880"/>
            <a:ext cx="22128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0D4FF"/>
                </a:solidFill>
              </a:rPr>
              <a:t>150+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65192" y="1965960"/>
            <a:ext cx="22128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tx /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5192" y="2258568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C"/>
                </a:solidFill>
              </a:rPr>
              <a:t>Sustained Throughput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87768" y="1234440"/>
            <a:ext cx="2212848" cy="1481328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87768" y="1234440"/>
            <a:ext cx="2212848" cy="50292"/>
          </a:xfrm>
          <a:prstGeom prst="rect">
            <a:avLst/>
          </a:prstGeom>
          <a:solidFill>
            <a:srgbClr val="00E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87768" y="1325880"/>
            <a:ext cx="22128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0E070"/>
                </a:solidFill>
              </a:rPr>
              <a:t>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87768" y="1965960"/>
            <a:ext cx="22128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7768" y="2258568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C"/>
                </a:solidFill>
              </a:rPr>
              <a:t>All Passing — CI Gate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10344" y="1234440"/>
            <a:ext cx="2212848" cy="1481328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10344" y="1234440"/>
            <a:ext cx="2212848" cy="50292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10344" y="1325880"/>
            <a:ext cx="22128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A06CFF"/>
                </a:solidFill>
              </a:rPr>
              <a:t>-99%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0344" y="1965960"/>
            <a:ext cx="22128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churn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10344" y="2258568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C"/>
                </a:solidFill>
              </a:rPr>
              <a:t>Adaptive vs Static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288036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Adaptive vs. Static Benchmark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246120"/>
            <a:ext cx="2971800" cy="347472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79" y="3255264"/>
            <a:ext cx="2880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Metric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37560" y="3246120"/>
            <a:ext cx="2148840" cy="347472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29000" y="3255264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Static Mode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32120" y="3246120"/>
            <a:ext cx="278892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23559" y="3255264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90D14"/>
                </a:solidFill>
              </a:rPr>
              <a:t>Adaptive (Ours)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66760" y="3246120"/>
            <a:ext cx="2240280" cy="347472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8200" y="3255264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Delta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611880"/>
            <a:ext cx="2971800" cy="384048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79" y="3630168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Resilience Score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37560" y="3611880"/>
            <a:ext cx="2148840" cy="384048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29000" y="3630168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57.8 / 100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32120" y="3611880"/>
            <a:ext cx="2788920" cy="384048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23559" y="3630168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87.5 / 100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66760" y="3611880"/>
            <a:ext cx="2240280" cy="384048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58200" y="363016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070"/>
                </a:solidFill>
              </a:rPr>
              <a:t>+51% 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4014216"/>
            <a:ext cx="2971800" cy="384048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79" y="4032504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Election Churn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37560" y="4014216"/>
            <a:ext cx="2148840" cy="384048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29000" y="403250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618 / min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32120" y="4014216"/>
            <a:ext cx="2788920" cy="384048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23559" y="4032504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 / min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66760" y="4014216"/>
            <a:ext cx="2240280" cy="384048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58200" y="4032504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070"/>
                </a:solidFill>
              </a:rPr>
              <a:t>−99.5% ✅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4416552"/>
            <a:ext cx="2971800" cy="384048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79" y="4434840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p95 Latency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337560" y="4416552"/>
            <a:ext cx="2148840" cy="384048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29000" y="443484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48 ms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32120" y="4416552"/>
            <a:ext cx="2788920" cy="384048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23559" y="4434840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48 ms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66760" y="4416552"/>
            <a:ext cx="2240280" cy="384048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58200" y="443484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070"/>
                </a:solidFill>
              </a:rPr>
              <a:t>Stable ✅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4818888"/>
            <a:ext cx="2971800" cy="384048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79" y="4837176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CI Gate  (≥ 80)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337560" y="4818888"/>
            <a:ext cx="2148840" cy="384048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29000" y="4837176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545"/>
                </a:solidFill>
              </a:rPr>
              <a:t>FAIL  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532120" y="4818888"/>
            <a:ext cx="2788920" cy="384048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623559" y="4837176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070"/>
                </a:solidFill>
              </a:rPr>
              <a:t>PASS  ✓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366760" y="4818888"/>
            <a:ext cx="2240280" cy="384048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458200" y="4837176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86800" y="28803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Demo Walk-Through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686800" y="3246120"/>
            <a:ext cx="3383280" cy="36576"/>
          </a:xfrm>
          <a:prstGeom prst="rect">
            <a:avLst/>
          </a:prstGeom>
          <a:solidFill>
            <a:srgbClr val="00E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686800" y="3310128"/>
            <a:ext cx="3383280" cy="457200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686800" y="3310128"/>
            <a:ext cx="45720" cy="457200"/>
          </a:xfrm>
          <a:prstGeom prst="rect">
            <a:avLst/>
          </a:prstGeom>
          <a:solidFill>
            <a:srgbClr val="00E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823960" y="3383280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①  Cluster boots — 150 tx/s, crown on N0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686800" y="3831336"/>
            <a:ext cx="3383280" cy="457200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686800" y="3831336"/>
            <a:ext cx="45720" cy="457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823960" y="3904488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②  Click 'Crash N0' — heartbeats stop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686800" y="4352544"/>
            <a:ext cx="3383280" cy="457200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686800" y="4352544"/>
            <a:ext cx="45720" cy="457200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823960" y="4425696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③  N2 wins election in ~320 ms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686800" y="4873752"/>
            <a:ext cx="3383280" cy="457200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686800" y="4873752"/>
            <a:ext cx="4572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823960" y="4946904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④  Recover All — N0 rejoins as Follower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686800" y="5394960"/>
            <a:ext cx="3383280" cy="457200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686800" y="5394960"/>
            <a:ext cx="4572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823960" y="5468112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⑤  Equivocation blocked by Echo Quorum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686800" y="5916168"/>
            <a:ext cx="3383280" cy="457200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686800" y="5916168"/>
            <a:ext cx="45720" cy="457200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823960" y="5989320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⑥  Autopilot → Score: A  87.5 / 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9282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677"/>
                </a:solidFill>
              </a:rPr>
              <a:t>TRINETRA CHAOS CONSOLE  ·  Innovise 2026  ·  Blockchain PS3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274320" y="1645920"/>
            <a:ext cx="12801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0" b="1">
                <a:solidFill>
                  <a:srgbClr val="111A27"/>
                </a:solidFill>
              </a:rPr>
              <a:t>TOP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097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200"/>
                </a:solidFill>
              </a:rPr>
              <a:t>SLIDE 6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Trinetra Wins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005840"/>
            <a:ext cx="11521440" cy="50292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545"/>
                </a:solidFill>
              </a:rPr>
              <a:t>Most Hackathon Projects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17043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070"/>
                </a:solidFill>
              </a:rPr>
              <a:t>Trinetra Chaos Console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1627632"/>
            <a:ext cx="5394960" cy="530352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627632"/>
            <a:ext cx="5394960" cy="530352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71907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8888"/>
                </a:solidFill>
              </a:rPr>
              <a:t>✗  Fake random numbers for 'consensus'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719072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Real Raft — PreVote · Leader Transfer · Gray Failure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2240280"/>
            <a:ext cx="5394960" cy="530352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2240280"/>
            <a:ext cx="5394960" cy="530352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3317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8888"/>
                </a:solidFill>
              </a:rPr>
              <a:t>✗  No cryptography (hashes only)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33172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Ed25519 on every tx &amp; block header (PyNaCl)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2852928"/>
            <a:ext cx="5394960" cy="530352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2852928"/>
            <a:ext cx="5394960" cy="530352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294436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8888"/>
                </a:solidFill>
              </a:rPr>
              <a:t>✗  Single happy-path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2944368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8 named scenarios + drag-and-drop Scenario Composer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3465576"/>
            <a:ext cx="5394960" cy="530352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3465576"/>
            <a:ext cx="5394960" cy="530352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3557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8888"/>
                </a:solidFill>
              </a:rPr>
              <a:t>✗  No automated tests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3557016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17 pytest tests + GitHub Actions CI gate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" y="4078224"/>
            <a:ext cx="5394960" cy="530352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4078224"/>
            <a:ext cx="5394960" cy="530352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4169663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8888"/>
                </a:solidFill>
              </a:rPr>
              <a:t>✗  Black-box score, no formula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4169663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Published formula — Score = f(Churn, MTTR, Avail, Forks)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" y="4690872"/>
            <a:ext cx="5394960" cy="530352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5080" y="4690872"/>
            <a:ext cx="5394960" cy="530352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478231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8888"/>
                </a:solidFill>
              </a:rPr>
              <a:t>✗  No observability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4782312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Prometheus + Grafana + Wireshark-style RPC tracer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1143000"/>
            <a:ext cx="36576" cy="416052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42432" y="29260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56677"/>
                </a:solidFill>
              </a:rPr>
              <a:t>VS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532120"/>
            <a:ext cx="11567160" cy="868680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5532120"/>
            <a:ext cx="11567160" cy="50292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596128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200"/>
                </a:solidFill>
              </a:rPr>
              <a:t>🏆  Judges can verify every claim live on screen — no slides, just working software.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943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FF"/>
                </a:solidFill>
              </a:rPr>
              <a:t>🔗  github.com/jaydevgania/Trinetra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59436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0D4FF"/>
                </a:solidFill>
              </a:rPr>
              <a:t>🌐  http://127.0.0.1:8000  (live demo)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